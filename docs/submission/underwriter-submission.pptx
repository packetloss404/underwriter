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b3561609a24cdd" /><Relationship Type="http://schemas.openxmlformats.org/officeDocument/2006/relationships/extended-properties" Target="/docProps/app.xml" Id="Ra7e5e208b02d4239" /><Relationship Type="http://schemas.openxmlformats.org/officeDocument/2006/relationships/officeDocument" Target="/ppt/presentation.xml" Id="R4cd3f828be6c41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f8f21f45c14b43"/>
  </p:sldMasterIdLst>
  <p:notesMasterIdLst>
    <p:notesMasterId xmlns:r="http://schemas.openxmlformats.org/officeDocument/2006/relationships" r:id="Rf1897b9454264b49"/>
  </p:notesMasterIdLst>
  <p:sldIdLst>
    <p:sldId xmlns:r="http://schemas.openxmlformats.org/officeDocument/2006/relationships" id="256" r:id="R660e6c7de9ab443d"/>
    <p:sldId xmlns:r="http://schemas.openxmlformats.org/officeDocument/2006/relationships" id="257" r:id="R1c3ce71d17be4959"/>
    <p:sldId xmlns:r="http://schemas.openxmlformats.org/officeDocument/2006/relationships" id="258" r:id="Rb46a32acdacd4f36"/>
    <p:sldId xmlns:r="http://schemas.openxmlformats.org/officeDocument/2006/relationships" id="259" r:id="R363b626f325e48c9"/>
    <p:sldId xmlns:r="http://schemas.openxmlformats.org/officeDocument/2006/relationships" id="260" r:id="R138fba3bb5044162"/>
    <p:sldId xmlns:r="http://schemas.openxmlformats.org/officeDocument/2006/relationships" id="261" r:id="R31dd1b424c0c4ca2"/>
    <p:sldId xmlns:r="http://schemas.openxmlformats.org/officeDocument/2006/relationships" id="262" r:id="Re8c8ace996b5450a"/>
    <p:sldId xmlns:r="http://schemas.openxmlformats.org/officeDocument/2006/relationships" id="263" r:id="Rbb3cf9dc901945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52e2ac35354c4f" /><Relationship Type="http://schemas.openxmlformats.org/officeDocument/2006/relationships/slideMaster" Target="/ppt/slideMasters/slideMaster1.xml" Id="R97f8f21f45c14b43" /><Relationship Type="http://schemas.openxmlformats.org/officeDocument/2006/relationships/notesMaster" Target="/ppt/notesMasters/notesMaster1.xml" Id="Rf1897b9454264b49" /><Relationship Type="http://schemas.openxmlformats.org/officeDocument/2006/relationships/presProps" Target="/ppt/presProps.xml" Id="R8fba5f4ecbf24da2" /><Relationship Type="http://schemas.openxmlformats.org/officeDocument/2006/relationships/tableStyles" Target="/ppt/tableStyles.xml" Id="R1bbae453e3e348d3" /><Relationship Type="http://schemas.openxmlformats.org/officeDocument/2006/relationships/slide" Target="/ppt/slides/slide1.xml" Id="R660e6c7de9ab443d" /><Relationship Type="http://schemas.openxmlformats.org/officeDocument/2006/relationships/slide" Target="/ppt/slides/slide2.xml" Id="R1c3ce71d17be4959" /><Relationship Type="http://schemas.openxmlformats.org/officeDocument/2006/relationships/slide" Target="/ppt/slides/slide3.xml" Id="Rb46a32acdacd4f36" /><Relationship Type="http://schemas.openxmlformats.org/officeDocument/2006/relationships/slide" Target="/ppt/slides/slide4.xml" Id="R363b626f325e48c9" /><Relationship Type="http://schemas.openxmlformats.org/officeDocument/2006/relationships/slide" Target="/ppt/slides/slide5.xml" Id="R138fba3bb5044162" /><Relationship Type="http://schemas.openxmlformats.org/officeDocument/2006/relationships/slide" Target="/ppt/slides/slide6.xml" Id="R31dd1b424c0c4ca2" /><Relationship Type="http://schemas.openxmlformats.org/officeDocument/2006/relationships/slide" Target="/ppt/slides/slide7.xml" Id="Re8c8ace996b5450a" /><Relationship Type="http://schemas.openxmlformats.org/officeDocument/2006/relationships/slide" Target="/ppt/slides/slide8.xml" Id="Rbb3cf9dc901945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66a24451fa45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0f3b24f5804f62" /><Relationship Type="http://schemas.openxmlformats.org/officeDocument/2006/relationships/notesMaster" Target="/ppt/notesMasters/notesMaster1.xml" Id="R110956d293384d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aaf81b579d413d" /><Relationship Type="http://schemas.openxmlformats.org/officeDocument/2006/relationships/notesMaster" Target="/ppt/notesMasters/notesMaster1.xml" Id="Ra1a42f1834724c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7a4c3ab8f14094" /><Relationship Type="http://schemas.openxmlformats.org/officeDocument/2006/relationships/notesMaster" Target="/ppt/notesMasters/notesMaster1.xml" Id="R62353b0c297948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18119fb76e4368" /><Relationship Type="http://schemas.openxmlformats.org/officeDocument/2006/relationships/notesMaster" Target="/ppt/notesMasters/notesMaster1.xml" Id="R289a7bb5726448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9183ab80cf45fd" /><Relationship Type="http://schemas.openxmlformats.org/officeDocument/2006/relationships/notesMaster" Target="/ppt/notesMasters/notesMaster1.xml" Id="R493f455352fe49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0a4e601b724f34" /><Relationship Type="http://schemas.openxmlformats.org/officeDocument/2006/relationships/notesMaster" Target="/ppt/notesMasters/notesMaster1.xml" Id="R68fa3afc964245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b234f5b2c645b8" /><Relationship Type="http://schemas.openxmlformats.org/officeDocument/2006/relationships/notesMaster" Target="/ppt/notesMasters/notesMaster1.xml" Id="R6af323fbaa5d48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9fe3d79d63475f" /><Relationship Type="http://schemas.openxmlformats.org/officeDocument/2006/relationships/notesMaster" Target="/ppt/notesMasters/notesMaster1.xml" Id="R49acb124a34a46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in one sentence, then say paper trading plainly.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asset: docs/submission/assets/underwriter-cover.png</a:t>
            </a:r>
          </a:p>
          <a:p xmlns:a="http://schemas.openxmlformats.org/drawingml/2006/main">
            <a:r>
              <a:t>- Repository: docs/submission/one-page.md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expectation versus outcome before discussing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</a:t>
            </a:r>
          </a:p>
          <a:p xmlns:a="http://schemas.openxmlformats.org/drawingml/2006/main">
            <a:r>
              <a:t>- Repository: docs/research/strategy-spec.md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five-spread example. Do not imply live-money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docs/submission/demo-script.md</a:t>
            </a:r>
          </a:p>
          <a:p xmlns:a="http://schemas.openxmlformats.org/drawingml/2006/main">
            <a:r>
              <a:t>- Repository: src/underwriter/chain.py</a:t>
            </a:r>
          </a:p>
          <a:p xmlns:a="http://schemas.openxmlformats.org/drawingml/2006/main">
            <a:r>
              <a:t>- Repository: src/underwriter/execution.py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asymmetric authority: a hallucination costs opportunity, not capital.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docs/submission/one-page.md</a:t>
            </a:r>
          </a:p>
          <a:p xmlns:a="http://schemas.openxmlformats.org/drawingml/2006/main">
            <a:r>
              <a:t>- Repository: src/underwriter/veto.py</a:t>
            </a:r>
          </a:p>
          <a:p xmlns:a="http://schemas.openxmlformats.org/drawingml/2006/main">
            <a:r>
              <a:t>- Repository: tests/test_veto.py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each gate to the correlated short-put risk it prevents.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docs/submission/one-page.md</a:t>
            </a:r>
          </a:p>
          <a:p xmlns:a="http://schemas.openxmlformats.org/drawingml/2006/main">
            <a:r>
              <a:t>- Repository: src/underwriter/risk.py</a:t>
            </a:r>
          </a:p>
          <a:p xmlns:a="http://schemas.openxmlformats.org/drawingml/2006/main">
            <a:r>
              <a:t>- Repository: src/underwriter/regime.py</a:t>
            </a:r>
          </a:p>
          <a:p xmlns:a="http://schemas.openxmlformats.org/drawingml/2006/main">
            <a:r>
              <a:t>- Repository: src/underwriter/exits.py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hosting proof and state proof distinct, then explain why they compose.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docs/submission/integration-probes.md</a:t>
            </a:r>
          </a:p>
          <a:p xmlns:a="http://schemas.openxmlformats.org/drawingml/2006/main">
            <a:r>
              <a:t>- Repository: tests/test_restart_recovery.py</a:t>
            </a:r>
          </a:p>
          <a:p xmlns:a="http://schemas.openxmlformats.org/drawingml/2006/main">
            <a:r>
              <a:t>- Commit: a6b84c3bb4e284a9e42d74f4dc01a928810c182b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oversell a short judging window. Lead with verifiable engineering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verification: pytest, ruff, and mypy run on 2026-09-03</a:t>
            </a:r>
          </a:p>
          <a:p xmlns:a="http://schemas.openxmlformats.org/drawingml/2006/main">
            <a:r>
              <a:t>- Repository: docs/GOTCHAS.md</a:t>
            </a:r>
          </a:p>
          <a:p xmlns:a="http://schemas.openxmlformats.org/drawingml/2006/main">
            <a:r>
              <a:t>- Repository: docs/submission/one-page.md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discipline, not predicted returns.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docs/submission/one-page.md</a:t>
            </a:r>
          </a:p>
          <a:p xmlns:a="http://schemas.openxmlformats.org/drawingml/2006/main">
            <a:r>
              <a:t>- Repository asset: src/underwriter/static/logo-mark.png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d76a6cc144e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9dd227ece04503" /><Relationship Type="http://schemas.openxmlformats.org/officeDocument/2006/relationships/slideLayout" Target="/ppt/slideLayouts/slideLayout1.xml" Id="R5aca7c9baa9649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ca7c9baa9649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ab43b777d4694" /><Relationship Type="http://schemas.openxmlformats.org/officeDocument/2006/relationships/image" Target="/ppt/media/image.png" Id="Re82f01b6d08f424f" /><Relationship Type="http://schemas.openxmlformats.org/officeDocument/2006/relationships/notesSlide" Target="/ppt/notesSlides/notesSlide1.xml" Id="R2e7822a942f348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ee26406fd4a9c" /><Relationship Type="http://schemas.openxmlformats.org/officeDocument/2006/relationships/notesSlide" Target="/ppt/notesSlides/notesSlide2.xml" Id="R5d93375ef8cd44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f1e99a08c48d2" /><Relationship Type="http://schemas.openxmlformats.org/officeDocument/2006/relationships/notesSlide" Target="/ppt/notesSlides/notesSlide3.xml" Id="R2065ce30c3d14d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5b09aa75f4d4b" /><Relationship Type="http://schemas.openxmlformats.org/officeDocument/2006/relationships/notesSlide" Target="/ppt/notesSlides/notesSlide4.xml" Id="R2e6588917ead45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828ba186c4424" /><Relationship Type="http://schemas.openxmlformats.org/officeDocument/2006/relationships/notesSlide" Target="/ppt/notesSlides/notesSlide5.xml" Id="R2b9c55a4cc5844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55ff255b141c8" /><Relationship Type="http://schemas.openxmlformats.org/officeDocument/2006/relationships/notesSlide" Target="/ppt/notesSlides/notesSlide6.xml" Id="R30d9b46a708647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f0407e3094149" /><Relationship Type="http://schemas.openxmlformats.org/officeDocument/2006/relationships/notesSlide" Target="/ppt/notesSlides/notesSlide7.xml" Id="Ref1053ab25f141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caff5643e40d2" /><Relationship Type="http://schemas.openxmlformats.org/officeDocument/2006/relationships/image" Target="/ppt/media/image2.png" Id="R96e6c00336444830" /><Relationship Type="http://schemas.openxmlformats.org/officeDocument/2006/relationships/notesSlide" Target="/ppt/notesSlides/notesSlide8.xml" Id="R8065cecc802b47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f01b6d08f424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16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2">
            <a:extLst xmlns:a="http://schemas.openxmlformats.org/drawingml/2006/main">
              <a:ext uri="{FF2B5EF4-FFF2-40B4-BE49-F238E27FC236}">
                <a16:creationId xmlns:a16="http://schemas.microsoft.com/office/drawing/2014/main" id="{DEEF0F07-EC39-4F3E-BD49-CEA97812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The product: get paid when nothing happens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6568CC07-1DA0-4B3E-883B-EBA9BB31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DA60B2B7-34AA-4D2F-AAC1-5F3E9F06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implied-label">
            <a:extLst xmlns:a="http://schemas.openxmlformats.org/drawingml/2006/main">
              <a:ext uri="{FF2B5EF4-FFF2-40B4-BE49-F238E27FC236}">
                <a16:creationId xmlns:a16="http://schemas.microsoft.com/office/drawing/2014/main" id="{6AB7181E-701D-4DA9-A536-B3282CBE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IMPLIED</a:t>
            </a:r>
          </a:p>
        </p:txBody>
      </p:sp>
      <p:sp>
        <p:nvSpPr>
          <p:cNvPr id="5" name="implied-value">
            <a:extLst xmlns:a="http://schemas.openxmlformats.org/drawingml/2006/main">
              <a:ext uri="{FF2B5EF4-FFF2-40B4-BE49-F238E27FC236}">
                <a16:creationId xmlns:a16="http://schemas.microsoft.com/office/drawing/2014/main" id="{3C4D938F-E670-4CF5-A09C-41C1D6F5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What the market expects</a:t>
            </a:r>
          </a:p>
        </p:txBody>
      </p:sp>
      <p:sp>
        <p:nvSpPr>
          <p:cNvPr id="6" name="realised-label">
            <a:extLst xmlns:a="http://schemas.openxmlformats.org/drawingml/2006/main">
              <a:ext uri="{FF2B5EF4-FFF2-40B4-BE49-F238E27FC236}">
                <a16:creationId xmlns:a16="http://schemas.microsoft.com/office/drawing/2014/main" id="{00AAB57D-DA1F-4555-89C0-E661FA85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621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REALISED</a:t>
            </a:r>
          </a:p>
        </p:txBody>
      </p:sp>
      <p:sp>
        <p:nvSpPr>
          <p:cNvPr id="7" name="realised-value">
            <a:extLst xmlns:a="http://schemas.openxmlformats.org/drawingml/2006/main">
              <a:ext uri="{FF2B5EF4-FFF2-40B4-BE49-F238E27FC236}">
                <a16:creationId xmlns:a16="http://schemas.microsoft.com/office/drawing/2014/main" id="{C2D9971C-D5E0-4DD3-A095-37E13F11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3362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What actually happens</a:t>
            </a:r>
          </a:p>
        </p:txBody>
      </p:sp>
      <p:sp>
        <p:nvSpPr>
          <p:cNvPr id="8" name="thesis-band">
            <a:extLst xmlns:a="http://schemas.openxmlformats.org/drawingml/2006/main">
              <a:ext uri="{FF2B5EF4-FFF2-40B4-BE49-F238E27FC236}">
                <a16:creationId xmlns:a16="http://schemas.microsoft.com/office/drawing/2014/main" id="{7DCE24F1-9A46-4515-85C9-AA409999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7442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hesis">
            <a:extLst xmlns:a="http://schemas.openxmlformats.org/drawingml/2006/main">
              <a:ext uri="{FF2B5EF4-FFF2-40B4-BE49-F238E27FC236}">
                <a16:creationId xmlns:a16="http://schemas.microsoft.com/office/drawing/2014/main" id="{928616E8-1C2A-4878-89B1-A98E7B23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1009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13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1326"/>
                </a:solidFill>
                <a:latin typeface="Arial"/>
                <a:ea typeface="Arial"/>
                <a:cs typeface="Arial"/>
              </a:rPr>
              <a:t>The gap is the volatility risk premium - an insurance premium that exists only in options.</a:t>
            </a:r>
          </a:p>
        </p:txBody>
      </p:sp>
    </p:spTree>
    <p:extLst>
      <p:ext uri="{BB962C8B-B14F-4D97-AF65-F5344CB8AC3E}">
        <p14:creationId xmlns:p14="http://schemas.microsoft.com/office/powerpoint/2010/main" val="1722273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3">
            <a:extLst xmlns:a="http://schemas.openxmlformats.org/drawingml/2006/main">
              <a:ext uri="{FF2B5EF4-FFF2-40B4-BE49-F238E27FC236}">
                <a16:creationId xmlns:a16="http://schemas.microsoft.com/office/drawing/2014/main" id="{A6611625-678D-4DF2-B157-BF234E89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Downside is bounded before the order exists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F8180940-DB76-4F30-9065-C2BADF69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691F6D82-38BF-4579-AA98-DA514DA1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position">
            <a:extLst xmlns:a="http://schemas.openxmlformats.org/drawingml/2006/main">
              <a:ext uri="{FF2B5EF4-FFF2-40B4-BE49-F238E27FC236}">
                <a16:creationId xmlns:a16="http://schemas.microsoft.com/office/drawing/2014/main" id="{47BE6B65-FCD4-4588-959D-A23CAA0E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5 x SPY 761 / 760 put credit spreads</a:t>
            </a:r>
          </a:p>
        </p:txBody>
      </p:sp>
      <p:sp>
        <p:nvSpPr>
          <p:cNvPr id="5" name="position-detail">
            <a:extLst xmlns:a="http://schemas.openxmlformats.org/drawingml/2006/main">
              <a:ext uri="{FF2B5EF4-FFF2-40B4-BE49-F238E27FC236}">
                <a16:creationId xmlns:a16="http://schemas.microsoft.com/office/drawing/2014/main" id="{95984E94-F990-4069-B925-C90846E0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71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Sell the 761 put. Buy the 760 put as the cap. The second leg defines the worst case before entry.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9F169DC6-4AFC-4ECD-A323-06310013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38300"/>
            <a:ext cx="190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redit-number">
            <a:extLst xmlns:a="http://schemas.openxmlformats.org/drawingml/2006/main">
              <a:ext uri="{FF2B5EF4-FFF2-40B4-BE49-F238E27FC236}">
                <a16:creationId xmlns:a16="http://schemas.microsoft.com/office/drawing/2014/main" id="{E10DCF34-97C9-4E78-A3C2-C42C85F7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47D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47DFF"/>
                </a:solidFill>
                <a:latin typeface="Arial"/>
                <a:ea typeface="Arial"/>
                <a:cs typeface="Arial"/>
              </a:rPr>
              <a:t>$75</a:t>
            </a:r>
          </a:p>
        </p:txBody>
      </p:sp>
      <p:sp>
        <p:nvSpPr>
          <p:cNvPr id="8" name="credit-label">
            <a:extLst xmlns:a="http://schemas.openxmlformats.org/drawingml/2006/main">
              <a:ext uri="{FF2B5EF4-FFF2-40B4-BE49-F238E27FC236}">
                <a16:creationId xmlns:a16="http://schemas.microsoft.com/office/drawing/2014/main" id="{8FD46125-1312-4784-8F43-4303F9D1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859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maximum premium</a:t>
            </a:r>
          </a:p>
        </p:txBody>
      </p:sp>
      <p:sp>
        <p:nvSpPr>
          <p:cNvPr id="9" name="loss-number">
            <a:extLst xmlns:a="http://schemas.openxmlformats.org/drawingml/2006/main">
              <a:ext uri="{FF2B5EF4-FFF2-40B4-BE49-F238E27FC236}">
                <a16:creationId xmlns:a16="http://schemas.microsoft.com/office/drawing/2014/main" id="{4B084369-28E3-41F6-86E3-25554959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$425</a:t>
            </a:r>
          </a:p>
        </p:txBody>
      </p:sp>
      <p:sp>
        <p:nvSpPr>
          <p:cNvPr id="10" name="loss-label">
            <a:extLst xmlns:a="http://schemas.openxmlformats.org/drawingml/2006/main">
              <a:ext uri="{FF2B5EF4-FFF2-40B4-BE49-F238E27FC236}">
                <a16:creationId xmlns:a16="http://schemas.microsoft.com/office/drawing/2014/main" id="{D7A5BB3F-8B97-493A-B87F-06FBC553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maximum loss</a:t>
            </a:r>
          </a:p>
        </p:txBody>
      </p:sp>
      <p:sp>
        <p:nvSpPr>
          <p:cNvPr id="11" name="break-number">
            <a:extLst xmlns:a="http://schemas.openxmlformats.org/drawingml/2006/main">
              <a:ext uri="{FF2B5EF4-FFF2-40B4-BE49-F238E27FC236}">
                <a16:creationId xmlns:a16="http://schemas.microsoft.com/office/drawing/2014/main" id="{84865FDB-F572-4844-9567-69B5212A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005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760.85</a:t>
            </a:r>
          </a:p>
        </p:txBody>
      </p:sp>
      <p:sp>
        <p:nvSpPr>
          <p:cNvPr id="12" name="break-label">
            <a:extLst xmlns:a="http://schemas.openxmlformats.org/drawingml/2006/main">
              <a:ext uri="{FF2B5EF4-FFF2-40B4-BE49-F238E27FC236}">
                <a16:creationId xmlns:a16="http://schemas.microsoft.com/office/drawing/2014/main" id="{DB5D49DA-09E6-40B1-9B4C-442E9C01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719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breakeven</a:t>
            </a:r>
          </a:p>
        </p:txBody>
      </p:sp>
      <p:sp>
        <p:nvSpPr>
          <p:cNvPr id="13" name="claim-rule">
            <a:extLst xmlns:a="http://schemas.openxmlformats.org/drawingml/2006/main">
              <a:ext uri="{FF2B5EF4-FFF2-40B4-BE49-F238E27FC236}">
                <a16:creationId xmlns:a16="http://schemas.microsoft.com/office/drawing/2014/main" id="{4D56E2E5-7E89-4EA4-A9E3-3C17EFC4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571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laim">
            <a:extLst xmlns:a="http://schemas.openxmlformats.org/drawingml/2006/main">
              <a:ext uri="{FF2B5EF4-FFF2-40B4-BE49-F238E27FC236}">
                <a16:creationId xmlns:a16="http://schemas.microsoft.com/office/drawing/2014/main" id="{ED947308-4640-4B00-8A9A-1C7D12CC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13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61326"/>
                </a:solidFill>
                <a:latin typeface="Arial"/>
                <a:ea typeface="Arial"/>
                <a:cs typeface="Arial"/>
              </a:rPr>
              <a:t>Defined risk is not a dashboard label. It is encoded in the order legs.</a:t>
            </a:r>
          </a:p>
        </p:txBody>
      </p:sp>
    </p:spTree>
    <p:extLst>
      <p:ext uri="{BB962C8B-B14F-4D97-AF65-F5344CB8AC3E}">
        <p14:creationId xmlns:p14="http://schemas.microsoft.com/office/powerpoint/2010/main" val="1848779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4">
            <a:extLst xmlns:a="http://schemas.openxmlformats.org/drawingml/2006/main">
              <a:ext uri="{FF2B5EF4-FFF2-40B4-BE49-F238E27FC236}">
                <a16:creationId xmlns:a16="http://schemas.microsoft.com/office/drawing/2014/main" id="{B92A44E7-A17E-45FA-83A9-E5FB41DA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The AI has one power: say no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F50E50B8-D823-4270-BF8D-AB893DD4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4148E02E-A2B7-4C7E-A5EB-CE9AEDAB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arrow-1">
            <a:extLst xmlns:a="http://schemas.openxmlformats.org/drawingml/2006/main">
              <a:ext uri="{FF2B5EF4-FFF2-40B4-BE49-F238E27FC236}">
                <a16:creationId xmlns:a16="http://schemas.microsoft.com/office/drawing/2014/main" id="{DEC2A7E5-FB01-4C0D-820A-77CC6162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62300"/>
            <a:ext cx="1200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row-2">
            <a:extLst xmlns:a="http://schemas.openxmlformats.org/drawingml/2006/main">
              <a:ext uri="{FF2B5EF4-FFF2-40B4-BE49-F238E27FC236}">
                <a16:creationId xmlns:a16="http://schemas.microsoft.com/office/drawing/2014/main" id="{FA435B83-BA49-4FED-ADDD-EF6AD5E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162300"/>
            <a:ext cx="1200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ndidate">
            <a:extLst xmlns:a="http://schemas.openxmlformats.org/drawingml/2006/main">
              <a:ext uri="{FF2B5EF4-FFF2-40B4-BE49-F238E27FC236}">
                <a16:creationId xmlns:a16="http://schemas.microsoft.com/office/drawing/2014/main" id="{428BB9F9-57A8-4386-8737-7B51A5D0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590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eto">
            <a:extLst xmlns:a="http://schemas.openxmlformats.org/drawingml/2006/main">
              <a:ext uri="{FF2B5EF4-FFF2-40B4-BE49-F238E27FC236}">
                <a16:creationId xmlns:a16="http://schemas.microsoft.com/office/drawing/2014/main" id="{0924DE68-3E46-4A20-890E-566971AD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47850"/>
            <a:ext cx="32004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pital">
            <a:extLst xmlns:a="http://schemas.openxmlformats.org/drawingml/2006/main">
              <a:ext uri="{FF2B5EF4-FFF2-40B4-BE49-F238E27FC236}">
                <a16:creationId xmlns:a16="http://schemas.microsoft.com/office/drawing/2014/main" id="{DA6E910F-34F5-4676-A0AF-69F5304F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2590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ndidate-title">
            <a:extLst xmlns:a="http://schemas.openxmlformats.org/drawingml/2006/main">
              <a:ext uri="{FF2B5EF4-FFF2-40B4-BE49-F238E27FC236}">
                <a16:creationId xmlns:a16="http://schemas.microsoft.com/office/drawing/2014/main" id="{BB0C313E-C286-47F4-A95F-62736AA3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0" name="candidate-body">
            <a:extLst xmlns:a="http://schemas.openxmlformats.org/drawingml/2006/main">
              <a:ext uri="{FF2B5EF4-FFF2-40B4-BE49-F238E27FC236}">
                <a16:creationId xmlns:a16="http://schemas.microsoft.com/office/drawing/2014/main" id="{960B3AA9-755A-41D9-A026-78DC99C2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Ticker</a:t>
            </a:r>
          </a:p>
          <a:p xmlns:a="http://schemas.openxmlformats.org/drawingml/2006/main">
            <a:pPr algn="ctr"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volatility figures</a:t>
            </a:r>
          </a:p>
          <a:p xmlns:a="http://schemas.openxmlformats.org/drawingml/2006/main">
            <a:pPr algn="ctr"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headlines</a:t>
            </a:r>
          </a:p>
        </p:txBody>
      </p:sp>
      <p:sp>
        <p:nvSpPr>
          <p:cNvPr id="11" name="veto-title">
            <a:extLst xmlns:a="http://schemas.openxmlformats.org/drawingml/2006/main">
              <a:ext uri="{FF2B5EF4-FFF2-40B4-BE49-F238E27FC236}">
                <a16:creationId xmlns:a16="http://schemas.microsoft.com/office/drawing/2014/main" id="{98876F17-5234-4BC3-8A73-31E1DBA5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145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1D4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D4ED"/>
                </a:solidFill>
                <a:latin typeface="Arial"/>
                <a:ea typeface="Arial"/>
                <a:cs typeface="Arial"/>
              </a:rPr>
              <a:t>CATALYST VETO</a:t>
            </a:r>
          </a:p>
        </p:txBody>
      </p:sp>
      <p:sp>
        <p:nvSpPr>
          <p:cNvPr id="12" name="veto-body">
            <a:extLst xmlns:a="http://schemas.openxmlformats.org/drawingml/2006/main">
              <a:ext uri="{FF2B5EF4-FFF2-40B4-BE49-F238E27FC236}">
                <a16:creationId xmlns:a16="http://schemas.microsoft.com/office/drawing/2014/main" id="{A2B1BFD8-4CF6-4C04-BBEB-EDFA8AB4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0510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33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 or decline</a:t>
            </a:r>
          </a:p>
        </p:txBody>
      </p:sp>
      <p:sp>
        <p:nvSpPr>
          <p:cNvPr id="13" name="veto-foot">
            <a:extLst xmlns:a="http://schemas.openxmlformats.org/drawingml/2006/main">
              <a:ext uri="{FF2B5EF4-FFF2-40B4-BE49-F238E27FC236}">
                <a16:creationId xmlns:a16="http://schemas.microsoft.com/office/drawing/2014/main" id="{6C3E006F-590B-4135-874B-2FEEB33A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052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Timeout, bad JSON, or uncertainty = decline</a:t>
            </a:r>
          </a:p>
        </p:txBody>
      </p:sp>
      <p:sp>
        <p:nvSpPr>
          <p:cNvPr id="14" name="capital-title">
            <a:extLst xmlns:a="http://schemas.openxmlformats.org/drawingml/2006/main">
              <a:ext uri="{FF2B5EF4-FFF2-40B4-BE49-F238E27FC236}">
                <a16:creationId xmlns:a16="http://schemas.microsoft.com/office/drawing/2014/main" id="{02C18AD5-7852-4D7E-9457-575831A0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19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Capital</a:t>
            </a:r>
          </a:p>
        </p:txBody>
      </p:sp>
      <p:sp>
        <p:nvSpPr>
          <p:cNvPr id="15" name="capital-body">
            <a:extLst xmlns:a="http://schemas.openxmlformats.org/drawingml/2006/main">
              <a:ext uri="{FF2B5EF4-FFF2-40B4-BE49-F238E27FC236}">
                <a16:creationId xmlns:a16="http://schemas.microsoft.com/office/drawing/2014/main" id="{DB0B354E-F2C9-4E09-980D-9C34FB77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990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Price, size, risk,</a:t>
            </a:r>
          </a:p>
          <a:p xmlns:a="http://schemas.openxmlformats.org/drawingml/2006/main">
            <a:pPr algn="ctr"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execution, exits</a:t>
            </a:r>
          </a:p>
        </p:txBody>
      </p:sp>
      <p:sp>
        <p:nvSpPr>
          <p:cNvPr id="16" name="asymmetry">
            <a:extLst xmlns:a="http://schemas.openxmlformats.org/drawingml/2006/main">
              <a:ext uri="{FF2B5EF4-FFF2-40B4-BE49-F238E27FC236}">
                <a16:creationId xmlns:a16="http://schemas.microsoft.com/office/drawing/2014/main" id="{7000DEF5-6945-4013-B184-25D1177F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The model can remove a trade. No output can create one.</a:t>
            </a:r>
          </a:p>
        </p:txBody>
      </p:sp>
    </p:spTree>
    <p:extLst>
      <p:ext uri="{BB962C8B-B14F-4D97-AF65-F5344CB8AC3E}">
        <p14:creationId xmlns:p14="http://schemas.microsoft.com/office/powerpoint/2010/main" val="714622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5">
            <a:extLst xmlns:a="http://schemas.openxmlformats.org/drawingml/2006/main">
              <a:ext uri="{FF2B5EF4-FFF2-40B4-BE49-F238E27FC236}">
                <a16:creationId xmlns:a16="http://schemas.microsoft.com/office/drawing/2014/main" id="{7B202DC0-0BF5-468F-8162-5968924F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Risk is deterministic and portfolio-aware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3DC070BF-9F9C-4BB1-96B4-4F182FC6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389BD11A-E484-496C-BD42-FCB7E1A5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cell-rule-70-190">
            <a:extLst xmlns:a="http://schemas.openxmlformats.org/drawingml/2006/main">
              <a:ext uri="{FF2B5EF4-FFF2-40B4-BE49-F238E27FC236}">
                <a16:creationId xmlns:a16="http://schemas.microsoft.com/office/drawing/2014/main" id="{90A05239-0E6B-4A1F-9B92-BFE6B2F6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ell-head-70-190">
            <a:extLst xmlns:a="http://schemas.openxmlformats.org/drawingml/2006/main">
              <a:ext uri="{FF2B5EF4-FFF2-40B4-BE49-F238E27FC236}">
                <a16:creationId xmlns:a16="http://schemas.microsoft.com/office/drawing/2014/main" id="{B2B02CB0-1E73-4164-BFFF-2185BF69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7DFF"/>
                </a:solidFill>
                <a:latin typeface="Arial"/>
                <a:ea typeface="Arial"/>
                <a:cs typeface="Arial"/>
              </a:rPr>
              <a:t>01  REGIME</a:t>
            </a:r>
          </a:p>
        </p:txBody>
      </p:sp>
      <p:sp>
        <p:nvSpPr>
          <p:cNvPr id="6" name="cell-body-70-190">
            <a:extLst xmlns:a="http://schemas.openxmlformats.org/drawingml/2006/main">
              <a:ext uri="{FF2B5EF4-FFF2-40B4-BE49-F238E27FC236}">
                <a16:creationId xmlns:a16="http://schemas.microsoft.com/office/drawing/2014/main" id="{F89612E1-7D13-424F-933A-33550030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71426"/>
                </a:solidFill>
                <a:latin typeface="Arial"/>
                <a:ea typeface="Arial"/>
                <a:cs typeface="Arial"/>
              </a:rPr>
              <a:t>Blocks every new entry when the tape or volatility term structure is hostile.</a:t>
            </a:r>
          </a:p>
        </p:txBody>
      </p:sp>
      <p:sp>
        <p:nvSpPr>
          <p:cNvPr id="7" name="cell-rule-660-190">
            <a:extLst xmlns:a="http://schemas.openxmlformats.org/drawingml/2006/main">
              <a:ext uri="{FF2B5EF4-FFF2-40B4-BE49-F238E27FC236}">
                <a16:creationId xmlns:a16="http://schemas.microsoft.com/office/drawing/2014/main" id="{1E2C469E-068B-4B23-A8CA-9D30D04B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ell-head-660-190">
            <a:extLst xmlns:a="http://schemas.openxmlformats.org/drawingml/2006/main">
              <a:ext uri="{FF2B5EF4-FFF2-40B4-BE49-F238E27FC236}">
                <a16:creationId xmlns:a16="http://schemas.microsoft.com/office/drawing/2014/main" id="{CA2E259A-CF7D-451C-9CAD-46605138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7DFF"/>
                </a:solidFill>
                <a:latin typeface="Arial"/>
                <a:ea typeface="Arial"/>
                <a:cs typeface="Arial"/>
              </a:rPr>
              <a:t>02  CORRELATION</a:t>
            </a:r>
          </a:p>
        </p:txBody>
      </p:sp>
      <p:sp>
        <p:nvSpPr>
          <p:cNvPr id="9" name="cell-body-660-190">
            <a:extLst xmlns:a="http://schemas.openxmlformats.org/drawingml/2006/main">
              <a:ext uri="{FF2B5EF4-FFF2-40B4-BE49-F238E27FC236}">
                <a16:creationId xmlns:a16="http://schemas.microsoft.com/office/drawing/2014/main" id="{83880CEF-EC4C-46DB-90E9-B722A82B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71426"/>
                </a:solidFill>
                <a:latin typeface="Arial"/>
                <a:ea typeface="Arial"/>
                <a:cs typeface="Arial"/>
              </a:rPr>
              <a:t>Stops a second position from quietly becoming the same bet under another ticker.</a:t>
            </a:r>
          </a:p>
        </p:txBody>
      </p:sp>
      <p:sp>
        <p:nvSpPr>
          <p:cNvPr id="10" name="cell-rule-70-410">
            <a:extLst xmlns:a="http://schemas.openxmlformats.org/drawingml/2006/main">
              <a:ext uri="{FF2B5EF4-FFF2-40B4-BE49-F238E27FC236}">
                <a16:creationId xmlns:a16="http://schemas.microsoft.com/office/drawing/2014/main" id="{916C0525-C2A0-4A3D-A951-12478C8B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ell-head-70-410">
            <a:extLst xmlns:a="http://schemas.openxmlformats.org/drawingml/2006/main">
              <a:ext uri="{FF2B5EF4-FFF2-40B4-BE49-F238E27FC236}">
                <a16:creationId xmlns:a16="http://schemas.microsoft.com/office/drawing/2014/main" id="{19F8F1D8-F353-484A-9607-7FD37E0D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7DFF"/>
                </a:solidFill>
                <a:latin typeface="Arial"/>
                <a:ea typeface="Arial"/>
                <a:cs typeface="Arial"/>
              </a:rPr>
              <a:t>03  AGGREGATE DELTA</a:t>
            </a:r>
          </a:p>
        </p:txBody>
      </p:sp>
      <p:sp>
        <p:nvSpPr>
          <p:cNvPr id="12" name="cell-body-70-410">
            <a:extLst xmlns:a="http://schemas.openxmlformats.org/drawingml/2006/main">
              <a:ext uri="{FF2B5EF4-FFF2-40B4-BE49-F238E27FC236}">
                <a16:creationId xmlns:a16="http://schemas.microsoft.com/office/drawing/2014/main" id="{FE9E552A-807E-46B5-82C6-8ED1D225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71426"/>
                </a:solidFill>
                <a:latin typeface="Arial"/>
                <a:ea typeface="Arial"/>
                <a:cs typeface="Arial"/>
              </a:rPr>
              <a:t>Caps the book at 150 share-equivalents per $100k, not just one spread at a time.</a:t>
            </a:r>
          </a:p>
        </p:txBody>
      </p:sp>
      <p:sp>
        <p:nvSpPr>
          <p:cNvPr id="13" name="cell-rule-660-410">
            <a:extLst xmlns:a="http://schemas.openxmlformats.org/drawingml/2006/main">
              <a:ext uri="{FF2B5EF4-FFF2-40B4-BE49-F238E27FC236}">
                <a16:creationId xmlns:a16="http://schemas.microsoft.com/office/drawing/2014/main" id="{6D991070-3156-4975-8F03-2AE74CE1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ell-head-660-410">
            <a:extLst xmlns:a="http://schemas.openxmlformats.org/drawingml/2006/main">
              <a:ext uri="{FF2B5EF4-FFF2-40B4-BE49-F238E27FC236}">
                <a16:creationId xmlns:a16="http://schemas.microsoft.com/office/drawing/2014/main" id="{BFB64EDB-A2D8-4C5B-A279-A50AB5A2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81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7DFF"/>
                </a:solidFill>
                <a:latin typeface="Arial"/>
                <a:ea typeface="Arial"/>
                <a:cs typeface="Arial"/>
              </a:rPr>
              <a:t>04  LOSS + KILL</a:t>
            </a:r>
          </a:p>
        </p:txBody>
      </p:sp>
      <p:sp>
        <p:nvSpPr>
          <p:cNvPr id="15" name="cell-body-660-410">
            <a:extLst xmlns:a="http://schemas.openxmlformats.org/drawingml/2006/main">
              <a:ext uri="{FF2B5EF4-FFF2-40B4-BE49-F238E27FC236}">
                <a16:creationId xmlns:a16="http://schemas.microsoft.com/office/drawing/2014/main" id="{8119A291-BD4C-4739-9D27-74C29197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71426"/>
                </a:solidFill>
                <a:latin typeface="Arial"/>
                <a:ea typeface="Arial"/>
                <a:cs typeface="Arial"/>
              </a:rPr>
              <a:t>Daily loss, open-risk, position, cutoff, and global kill gates fail closed on unknowns.</a:t>
            </a:r>
          </a:p>
        </p:txBody>
      </p:sp>
    </p:spTree>
    <p:extLst>
      <p:ext uri="{BB962C8B-B14F-4D97-AF65-F5344CB8AC3E}">
        <p14:creationId xmlns:p14="http://schemas.microsoft.com/office/powerpoint/2010/main" val="20153841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6">
            <a:extLst xmlns:a="http://schemas.openxmlformats.org/drawingml/2006/main">
              <a:ext uri="{FF2B5EF4-FFF2-40B4-BE49-F238E27FC236}">
                <a16:creationId xmlns:a16="http://schemas.microsoft.com/office/drawing/2014/main" id="{CA853F5E-71AF-4394-A486-FE035700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Recovery is proven across both boundaries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3144931D-BE61-4F67-91EB-0E9EB708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0EB40BB4-5D42-41D0-8901-D5D60A9D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timeline">
            <a:extLst xmlns:a="http://schemas.openxmlformats.org/drawingml/2006/main">
              <a:ext uri="{FF2B5EF4-FFF2-40B4-BE49-F238E27FC236}">
                <a16:creationId xmlns:a16="http://schemas.microsoft.com/office/drawing/2014/main" id="{81BC273A-4CB7-49BE-B1B7-6C63B53A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1040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t-110">
            <a:extLst xmlns:a="http://schemas.openxmlformats.org/drawingml/2006/main">
              <a:ext uri="{FF2B5EF4-FFF2-40B4-BE49-F238E27FC236}">
                <a16:creationId xmlns:a16="http://schemas.microsoft.com/office/drawing/2014/main" id="{45AE28AA-7EF2-4330-BD58-FA1AD465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date-110">
            <a:extLst xmlns:a="http://schemas.openxmlformats.org/drawingml/2006/main">
              <a:ext uri="{FF2B5EF4-FFF2-40B4-BE49-F238E27FC236}">
                <a16:creationId xmlns:a16="http://schemas.microsoft.com/office/drawing/2014/main" id="{73305F7C-7EDF-4433-9020-1EB401F0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DFF"/>
                </a:solidFill>
                <a:latin typeface="Arial"/>
                <a:ea typeface="Arial"/>
                <a:cs typeface="Arial"/>
              </a:rPr>
              <a:t>AUG 30</a:t>
            </a:r>
          </a:p>
        </p:txBody>
      </p:sp>
      <p:sp>
        <p:nvSpPr>
          <p:cNvPr id="7" name="head-110">
            <a:extLst xmlns:a="http://schemas.openxmlformats.org/drawingml/2006/main">
              <a:ext uri="{FF2B5EF4-FFF2-40B4-BE49-F238E27FC236}">
                <a16:creationId xmlns:a16="http://schemas.microsoft.com/office/drawing/2014/main" id="{EE7CD567-8F2B-4F71-BC6F-6DBABA11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Real host</a:t>
            </a:r>
          </a:p>
        </p:txBody>
      </p:sp>
      <p:sp>
        <p:nvSpPr>
          <p:cNvPr id="8" name="body-110">
            <a:extLst xmlns:a="http://schemas.openxmlformats.org/drawingml/2006/main">
              <a:ext uri="{FF2B5EF4-FFF2-40B4-BE49-F238E27FC236}">
                <a16:creationId xmlns:a16="http://schemas.microsoft.com/office/drawing/2014/main" id="{C9326CA9-D3D7-42BB-A6D2-E22AC6E1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6289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Railway remounted the same volume and rebuilt the agent after a forced redeploy.</a:t>
            </a:r>
          </a:p>
        </p:txBody>
      </p:sp>
      <p:sp>
        <p:nvSpPr>
          <p:cNvPr id="9" name="dot-500">
            <a:extLst xmlns:a="http://schemas.openxmlformats.org/drawingml/2006/main">
              <a:ext uri="{FF2B5EF4-FFF2-40B4-BE49-F238E27FC236}">
                <a16:creationId xmlns:a16="http://schemas.microsoft.com/office/drawing/2014/main" id="{E70C4CE0-1310-4378-B1BE-42A7742D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date-500">
            <a:extLst xmlns:a="http://schemas.openxmlformats.org/drawingml/2006/main">
              <a:ext uri="{FF2B5EF4-FFF2-40B4-BE49-F238E27FC236}">
                <a16:creationId xmlns:a16="http://schemas.microsoft.com/office/drawing/2014/main" id="{D918C130-CD42-4273-B10B-5726F5E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DFF"/>
                </a:solidFill>
                <a:latin typeface="Arial"/>
                <a:ea typeface="Arial"/>
                <a:cs typeface="Arial"/>
              </a:rPr>
              <a:t>SEP 2</a:t>
            </a:r>
          </a:p>
        </p:txBody>
      </p:sp>
      <p:sp>
        <p:nvSpPr>
          <p:cNvPr id="11" name="head-500">
            <a:extLst xmlns:a="http://schemas.openxmlformats.org/drawingml/2006/main">
              <a:ext uri="{FF2B5EF4-FFF2-40B4-BE49-F238E27FC236}">
                <a16:creationId xmlns:a16="http://schemas.microsoft.com/office/drawing/2014/main" id="{9AA3F7DD-5AE1-42C0-8A5E-F36DF662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0045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Real state</a:t>
            </a:r>
          </a:p>
        </p:txBody>
      </p:sp>
      <p:sp>
        <p:nvSpPr>
          <p:cNvPr id="12" name="body-500">
            <a:extLst xmlns:a="http://schemas.openxmlformats.org/drawingml/2006/main">
              <a:ext uri="{FF2B5EF4-FFF2-40B4-BE49-F238E27FC236}">
                <a16:creationId xmlns:a16="http://schemas.microsoft.com/office/drawing/2014/main" id="{6A877744-3A89-455F-A48C-4DDE4221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6289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Four fresh processes restored open state, suppressed duplicate closes, and drained consequences once.</a:t>
            </a:r>
          </a:p>
        </p:txBody>
      </p:sp>
      <p:sp>
        <p:nvSpPr>
          <p:cNvPr id="13" name="dot-890">
            <a:extLst xmlns:a="http://schemas.openxmlformats.org/drawingml/2006/main">
              <a:ext uri="{FF2B5EF4-FFF2-40B4-BE49-F238E27FC236}">
                <a16:creationId xmlns:a16="http://schemas.microsoft.com/office/drawing/2014/main" id="{6317189D-6F9A-4890-87D4-65478FB7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date-890">
            <a:extLst xmlns:a="http://schemas.openxmlformats.org/drawingml/2006/main">
              <a:ext uri="{FF2B5EF4-FFF2-40B4-BE49-F238E27FC236}">
                <a16:creationId xmlns:a16="http://schemas.microsoft.com/office/drawing/2014/main" id="{2C5160AE-A3B7-4A4C-984C-B67AE384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DFF"/>
                </a:solidFill>
                <a:latin typeface="Arial"/>
                <a:ea typeface="Arial"/>
                <a:cs typeface="Arial"/>
              </a:rPr>
              <a:t>COMPOSED</a:t>
            </a:r>
          </a:p>
        </p:txBody>
      </p:sp>
      <p:sp>
        <p:nvSpPr>
          <p:cNvPr id="15" name="head-890">
            <a:extLst xmlns:a="http://schemas.openxmlformats.org/drawingml/2006/main">
              <a:ext uri="{FF2B5EF4-FFF2-40B4-BE49-F238E27FC236}">
                <a16:creationId xmlns:a16="http://schemas.microsoft.com/office/drawing/2014/main" id="{CE1A9C18-4F08-4DB8-9BCB-9D822512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Judged claim</a:t>
            </a:r>
          </a:p>
        </p:txBody>
      </p:sp>
      <p:sp>
        <p:nvSpPr>
          <p:cNvPr id="16" name="body-890">
            <a:extLst xmlns:a="http://schemas.openxmlformats.org/drawingml/2006/main">
              <a:ext uri="{FF2B5EF4-FFF2-40B4-BE49-F238E27FC236}">
                <a16:creationId xmlns:a16="http://schemas.microsoft.com/office/drawing/2014/main" id="{6E296438-FBB6-4E48-9EDA-3724B038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6289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An arbitrary restart does not duplicate or strand an order, fill, position event, or exploratory result.</a:t>
            </a:r>
          </a:p>
        </p:txBody>
      </p:sp>
    </p:spTree>
    <p:extLst>
      <p:ext uri="{BB962C8B-B14F-4D97-AF65-F5344CB8AC3E}">
        <p14:creationId xmlns:p14="http://schemas.microsoft.com/office/powerpoint/2010/main" val="197391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7">
            <a:extLst xmlns:a="http://schemas.openxmlformats.org/drawingml/2006/main">
              <a:ext uri="{FF2B5EF4-FFF2-40B4-BE49-F238E27FC236}">
                <a16:creationId xmlns:a16="http://schemas.microsoft.com/office/drawing/2014/main" id="{41032A48-13FC-4101-A1FE-2A550154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Evidence is the product, not the theater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62A3198A-0269-4035-BB49-86DA13D5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38BFFF8A-E626-4A01-9FBD-5934E079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evidence-intro">
            <a:extLst xmlns:a="http://schemas.openxmlformats.org/drawingml/2006/main">
              <a:ext uri="{FF2B5EF4-FFF2-40B4-BE49-F238E27FC236}">
                <a16:creationId xmlns:a16="http://schemas.microsoft.com/office/drawing/2014/main" id="{5695EBED-07F9-45D3-92A2-BE6CC783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 four-session P&amp;L is weak evidence. Refusals, recovery, and conservative accounting show whether the agent is disciplined.</a:t>
            </a:r>
          </a:p>
        </p:txBody>
      </p:sp>
      <p:sp>
        <p:nvSpPr>
          <p:cNvPr id="5" name="stat-72">
            <a:extLst xmlns:a="http://schemas.openxmlformats.org/drawingml/2006/main">
              <a:ext uri="{FF2B5EF4-FFF2-40B4-BE49-F238E27FC236}">
                <a16:creationId xmlns:a16="http://schemas.microsoft.com/office/drawing/2014/main" id="{F0FF8418-C1A4-4EFC-A001-37D3AFAD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813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t-value-72">
            <a:extLst xmlns:a="http://schemas.openxmlformats.org/drawingml/2006/main">
              <a:ext uri="{FF2B5EF4-FFF2-40B4-BE49-F238E27FC236}">
                <a16:creationId xmlns:a16="http://schemas.microsoft.com/office/drawing/2014/main" id="{8717B3DA-F95E-4023-94B5-1C864D15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724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06132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61326"/>
                </a:solidFill>
                <a:latin typeface="Arial"/>
                <a:ea typeface="Arial"/>
                <a:cs typeface="Arial"/>
              </a:rPr>
              <a:t>1,107</a:t>
            </a:r>
          </a:p>
        </p:txBody>
      </p:sp>
      <p:sp>
        <p:nvSpPr>
          <p:cNvPr id="7" name="stat-label-72">
            <a:extLst xmlns:a="http://schemas.openxmlformats.org/drawingml/2006/main">
              <a:ext uri="{FF2B5EF4-FFF2-40B4-BE49-F238E27FC236}">
                <a16:creationId xmlns:a16="http://schemas.microsoft.com/office/drawing/2014/main" id="{74C95A9A-6392-4D92-8E83-B3FB9630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passing tests</a:t>
            </a:r>
          </a:p>
        </p:txBody>
      </p:sp>
      <p:sp>
        <p:nvSpPr>
          <p:cNvPr id="8" name="stat-456">
            <a:extLst xmlns:a="http://schemas.openxmlformats.org/drawingml/2006/main">
              <a:ext uri="{FF2B5EF4-FFF2-40B4-BE49-F238E27FC236}">
                <a16:creationId xmlns:a16="http://schemas.microsoft.com/office/drawing/2014/main" id="{B1C4ABB5-C89D-48A5-A30F-6724A2D7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1813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t-value-456">
            <a:extLst xmlns:a="http://schemas.openxmlformats.org/drawingml/2006/main">
              <a:ext uri="{FF2B5EF4-FFF2-40B4-BE49-F238E27FC236}">
                <a16:creationId xmlns:a16="http://schemas.microsoft.com/office/drawing/2014/main" id="{0B3240C7-B999-4235-9081-658ACB3F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724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06132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61326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sp>
        <p:nvSpPr>
          <p:cNvPr id="10" name="stat-label-456">
            <a:extLst xmlns:a="http://schemas.openxmlformats.org/drawingml/2006/main">
              <a:ext uri="{FF2B5EF4-FFF2-40B4-BE49-F238E27FC236}">
                <a16:creationId xmlns:a16="http://schemas.microsoft.com/office/drawing/2014/main" id="{28AE03BC-9277-4B1B-A4D5-F2AC7AEA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coded refusal reasons</a:t>
            </a:r>
          </a:p>
        </p:txBody>
      </p:sp>
      <p:sp>
        <p:nvSpPr>
          <p:cNvPr id="11" name="stat-840">
            <a:extLst xmlns:a="http://schemas.openxmlformats.org/drawingml/2006/main">
              <a:ext uri="{FF2B5EF4-FFF2-40B4-BE49-F238E27FC236}">
                <a16:creationId xmlns:a16="http://schemas.microsoft.com/office/drawing/2014/main" id="{756CC21D-5634-4A6B-B40B-C7246DAD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31813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t-value-840">
            <a:extLst xmlns:a="http://schemas.openxmlformats.org/drawingml/2006/main">
              <a:ext uri="{FF2B5EF4-FFF2-40B4-BE49-F238E27FC236}">
                <a16:creationId xmlns:a16="http://schemas.microsoft.com/office/drawing/2014/main" id="{2CE633D5-15D9-4461-B17C-5B8E7BF5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724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06132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6132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3" name="stat-label-840">
            <a:extLst xmlns:a="http://schemas.openxmlformats.org/drawingml/2006/main">
              <a:ext uri="{FF2B5EF4-FFF2-40B4-BE49-F238E27FC236}">
                <a16:creationId xmlns:a16="http://schemas.microsoft.com/office/drawing/2014/main" id="{B9BA511A-1AC4-4DA5-B6E7-C3D85049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909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98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documented platform gotchas</a:t>
            </a:r>
          </a:p>
        </p:txBody>
      </p:sp>
      <p:sp>
        <p:nvSpPr>
          <p:cNvPr id="14" name="honesty">
            <a:extLst xmlns:a="http://schemas.openxmlformats.org/drawingml/2006/main">
              <a:ext uri="{FF2B5EF4-FFF2-40B4-BE49-F238E27FC236}">
                <a16:creationId xmlns:a16="http://schemas.microsoft.com/office/drawing/2014/main" id="{4B11E698-3F3C-4963-AA1E-87DBBD3D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496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honesty-copy">
            <a:extLst xmlns:a="http://schemas.openxmlformats.org/drawingml/2006/main">
              <a:ext uri="{FF2B5EF4-FFF2-40B4-BE49-F238E27FC236}">
                <a16:creationId xmlns:a16="http://schemas.microsoft.com/office/drawing/2014/main" id="{3325A039-F3D8-4B86-BB78-75AF7FA9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976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906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4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1426"/>
                </a:solidFill>
                <a:latin typeface="Arial"/>
                <a:ea typeface="Arial"/>
                <a:cs typeface="Arial"/>
              </a:rPr>
              <a:t>Official paper P&amp;L is reported. Conservative shadow P&amp;L is the number to believe.</a:t>
            </a:r>
          </a:p>
        </p:txBody>
      </p:sp>
    </p:spTree>
    <p:extLst>
      <p:ext uri="{BB962C8B-B14F-4D97-AF65-F5344CB8AC3E}">
        <p14:creationId xmlns:p14="http://schemas.microsoft.com/office/powerpoint/2010/main" val="6301003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6c00336444830"/>
          <a:stretch xmlns:a="http://schemas.openxmlformats.org/drawingml/2006/main"/>
        </p:blipFill>
        <p:spPr>
          <a:xfrm xmlns:a="http://schemas.openxmlformats.org/drawingml/2006/main">
            <a:off x="800423" y="1352550"/>
            <a:ext cx="3390254" cy="4000500"/>
          </a:xfrm>
          <a:prstGeom xmlns:a="http://schemas.openxmlformats.org/drawingml/2006/main" prst="rect">
            <a:avLst/>
          </a:prstGeom>
        </p:spPr>
      </p:pic>
      <p:sp>
        <p:nvSpPr>
          <p:cNvPr id="2" name="close-head">
            <a:extLst xmlns:a="http://schemas.openxmlformats.org/drawingml/2006/main">
              <a:ext uri="{FF2B5EF4-FFF2-40B4-BE49-F238E27FC236}">
                <a16:creationId xmlns:a16="http://schemas.microsoft.com/office/drawing/2014/main" id="{B7AAF1FB-6708-489E-80F0-DB53666A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64770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 underwriter that approves everything is not an underwriter.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BD08C372-7B81-48C9-9E3E-9692E1FE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2430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body">
            <a:extLst xmlns:a="http://schemas.openxmlformats.org/drawingml/2006/main">
              <a:ext uri="{FF2B5EF4-FFF2-40B4-BE49-F238E27FC236}">
                <a16:creationId xmlns:a16="http://schemas.microsoft.com/office/drawing/2014/main" id="{8F87B410-141F-4BA1-990E-156D3897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2910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Paper-only. Defined risk. Every refusal recorded. Every restart recoverable.</a:t>
            </a:r>
          </a:p>
        </p:txBody>
      </p:sp>
    </p:spTree>
    <p:extLst>
      <p:ext uri="{BB962C8B-B14F-4D97-AF65-F5344CB8AC3E}">
        <p14:creationId xmlns:p14="http://schemas.microsoft.com/office/powerpoint/2010/main" val="1041845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2026-09-03T04:05:40.8820000Z</dcterms:created>
  <dcterms:modified xsi:type="dcterms:W3CDTF">2026-09-03T04:05:40.8820000Z</dcterms:modified>
</coreProperties>
</file>